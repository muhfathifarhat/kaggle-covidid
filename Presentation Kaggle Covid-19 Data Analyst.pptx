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Bold" charset="1" panose="00000800000000000000"/>
      <p:regular r:id="rId14"/>
    </p:embeddedFont>
    <p:embeddedFont>
      <p:font typeface="Poppins"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https://public.tableau.com/views/Covid19_17851657217040/Dashboard1?:language=en-US&amp;:sid=&amp;:redirect=auth&amp;:display_count=n&amp;:origin=viz_share_link" TargetMode="External" Type="http://schemas.openxmlformats.org/officeDocument/2006/relationships/hyperlink"/><Relationship Id="rId4" Target="../media/image8.png" Type="http://schemas.openxmlformats.org/officeDocument/2006/relationships/image"/><Relationship Id="rId5"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762772" cy="709824"/>
          </a:xfrm>
          <a:custGeom>
            <a:avLst/>
            <a:gdLst/>
            <a:ahLst/>
            <a:cxnLst/>
            <a:rect r="r" b="b" t="t" l="l"/>
            <a:pathLst>
              <a:path h="709824" w="762772">
                <a:moveTo>
                  <a:pt x="0" y="0"/>
                </a:moveTo>
                <a:lnTo>
                  <a:pt x="762772" y="0"/>
                </a:lnTo>
                <a:lnTo>
                  <a:pt x="762772" y="709824"/>
                </a:lnTo>
                <a:lnTo>
                  <a:pt x="0" y="709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48693" y="1383612"/>
            <a:ext cx="6310607" cy="7200900"/>
          </a:xfrm>
          <a:custGeom>
            <a:avLst/>
            <a:gdLst/>
            <a:ahLst/>
            <a:cxnLst/>
            <a:rect r="r" b="b" t="t" l="l"/>
            <a:pathLst>
              <a:path h="7200900" w="6310607">
                <a:moveTo>
                  <a:pt x="0" y="0"/>
                </a:moveTo>
                <a:lnTo>
                  <a:pt x="6310607" y="0"/>
                </a:lnTo>
                <a:lnTo>
                  <a:pt x="6310607"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137076"/>
            <a:ext cx="9253225" cy="3644296"/>
          </a:xfrm>
          <a:prstGeom prst="rect">
            <a:avLst/>
          </a:prstGeom>
        </p:spPr>
        <p:txBody>
          <a:bodyPr anchor="t" rtlCol="false" tIns="0" lIns="0" bIns="0" rIns="0">
            <a:spAutoFit/>
          </a:bodyPr>
          <a:lstStyle/>
          <a:p>
            <a:pPr algn="l">
              <a:lnSpc>
                <a:spcPts val="8716"/>
              </a:lnSpc>
            </a:pPr>
            <a:r>
              <a:rPr lang="en-US" sz="8301" b="true">
                <a:solidFill>
                  <a:srgbClr val="EFF1E8"/>
                </a:solidFill>
                <a:latin typeface="Montserrat Bold"/>
                <a:ea typeface="Montserrat Bold"/>
                <a:cs typeface="Montserrat Bold"/>
                <a:sym typeface="Montserrat Bold"/>
              </a:rPr>
              <a:t>PORTOFOLIO</a:t>
            </a:r>
          </a:p>
          <a:p>
            <a:pPr algn="l">
              <a:lnSpc>
                <a:spcPts val="6616"/>
              </a:lnSpc>
            </a:pPr>
            <a:r>
              <a:rPr lang="en-US" b="true" sz="6301">
                <a:solidFill>
                  <a:srgbClr val="EFF1E8"/>
                </a:solidFill>
                <a:latin typeface="Montserrat Bold"/>
                <a:ea typeface="Montserrat Bold"/>
                <a:cs typeface="Montserrat Bold"/>
                <a:sym typeface="Montserrat Bold"/>
              </a:rPr>
              <a:t>DASHBOARD </a:t>
            </a:r>
          </a:p>
          <a:p>
            <a:pPr algn="l">
              <a:lnSpc>
                <a:spcPts val="6616"/>
              </a:lnSpc>
            </a:pPr>
            <a:r>
              <a:rPr lang="en-US" b="true" sz="6301">
                <a:solidFill>
                  <a:srgbClr val="EFF1E8"/>
                </a:solidFill>
                <a:latin typeface="Montserrat Bold"/>
                <a:ea typeface="Montserrat Bold"/>
                <a:cs typeface="Montserrat Bold"/>
                <a:sym typeface="Montserrat Bold"/>
              </a:rPr>
              <a:t>COVID-19 INDONESIA ANALYSIS</a:t>
            </a:r>
          </a:p>
        </p:txBody>
      </p:sp>
      <p:grpSp>
        <p:nvGrpSpPr>
          <p:cNvPr name="Group 5" id="5"/>
          <p:cNvGrpSpPr/>
          <p:nvPr/>
        </p:nvGrpSpPr>
        <p:grpSpPr>
          <a:xfrm rot="0">
            <a:off x="17519831" y="-691855"/>
            <a:ext cx="1676063" cy="11497700"/>
            <a:chOff x="0" y="0"/>
            <a:chExt cx="441432" cy="3028201"/>
          </a:xfrm>
        </p:grpSpPr>
        <p:sp>
          <p:nvSpPr>
            <p:cNvPr name="Freeform 6" id="6"/>
            <p:cNvSpPr/>
            <p:nvPr/>
          </p:nvSpPr>
          <p:spPr>
            <a:xfrm flipH="false" flipV="false" rot="0">
              <a:off x="0" y="0"/>
              <a:ext cx="441432" cy="3028201"/>
            </a:xfrm>
            <a:custGeom>
              <a:avLst/>
              <a:gdLst/>
              <a:ahLst/>
              <a:cxnLst/>
              <a:rect r="r" b="b" t="t" l="l"/>
              <a:pathLst>
                <a:path h="3028201" w="441432">
                  <a:moveTo>
                    <a:pt x="0" y="0"/>
                  </a:moveTo>
                  <a:lnTo>
                    <a:pt x="441432" y="0"/>
                  </a:lnTo>
                  <a:lnTo>
                    <a:pt x="441432" y="3028201"/>
                  </a:lnTo>
                  <a:lnTo>
                    <a:pt x="0" y="3028201"/>
                  </a:lnTo>
                  <a:close/>
                </a:path>
              </a:pathLst>
            </a:custGeom>
            <a:solidFill>
              <a:srgbClr val="EFF1E8"/>
            </a:solidFill>
          </p:spPr>
        </p:sp>
        <p:sp>
          <p:nvSpPr>
            <p:cNvPr name="TextBox 7" id="7"/>
            <p:cNvSpPr txBox="true"/>
            <p:nvPr/>
          </p:nvSpPr>
          <p:spPr>
            <a:xfrm>
              <a:off x="0" y="-38100"/>
              <a:ext cx="441432" cy="3066301"/>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flipH="true" flipV="true">
            <a:off x="1047750" y="8855456"/>
            <a:ext cx="0" cy="402844"/>
          </a:xfrm>
          <a:prstGeom prst="line">
            <a:avLst/>
          </a:prstGeom>
          <a:ln cap="flat" w="38100">
            <a:solidFill>
              <a:srgbClr val="EFF1E8"/>
            </a:solidFill>
            <a:prstDash val="solid"/>
            <a:headEnd type="none" len="sm" w="sm"/>
            <a:tailEnd type="none" len="sm" w="sm"/>
          </a:ln>
        </p:spPr>
      </p:sp>
      <p:sp>
        <p:nvSpPr>
          <p:cNvPr name="AutoShape 9" id="9"/>
          <p:cNvSpPr/>
          <p:nvPr/>
        </p:nvSpPr>
        <p:spPr>
          <a:xfrm flipH="true" flipV="true">
            <a:off x="1191738" y="8855456"/>
            <a:ext cx="0" cy="402844"/>
          </a:xfrm>
          <a:prstGeom prst="line">
            <a:avLst/>
          </a:prstGeom>
          <a:ln cap="flat" w="38100">
            <a:solidFill>
              <a:srgbClr val="EFF1E8"/>
            </a:solidFill>
            <a:prstDash val="solid"/>
            <a:headEnd type="none" len="sm" w="sm"/>
            <a:tailEnd type="none" len="sm" w="sm"/>
          </a:ln>
        </p:spPr>
      </p:sp>
      <p:sp>
        <p:nvSpPr>
          <p:cNvPr name="AutoShape 10" id="10"/>
          <p:cNvSpPr/>
          <p:nvPr/>
        </p:nvSpPr>
        <p:spPr>
          <a:xfrm flipH="true" flipV="true">
            <a:off x="1335726" y="8855456"/>
            <a:ext cx="0" cy="402844"/>
          </a:xfrm>
          <a:prstGeom prst="line">
            <a:avLst/>
          </a:prstGeom>
          <a:ln cap="flat" w="38100">
            <a:solidFill>
              <a:srgbClr val="EFF1E8"/>
            </a:solidFill>
            <a:prstDash val="solid"/>
            <a:headEnd type="none" len="sm" w="sm"/>
            <a:tailEnd type="none" len="sm" w="sm"/>
          </a:ln>
        </p:spPr>
      </p:sp>
      <p:sp>
        <p:nvSpPr>
          <p:cNvPr name="AutoShape 11" id="11"/>
          <p:cNvSpPr/>
          <p:nvPr/>
        </p:nvSpPr>
        <p:spPr>
          <a:xfrm flipH="true" flipV="true">
            <a:off x="16952274" y="8855456"/>
            <a:ext cx="0" cy="402844"/>
          </a:xfrm>
          <a:prstGeom prst="line">
            <a:avLst/>
          </a:prstGeom>
          <a:ln cap="flat" w="38100">
            <a:solidFill>
              <a:srgbClr val="EFF1E8"/>
            </a:solidFill>
            <a:prstDash val="solid"/>
            <a:headEnd type="none" len="sm" w="sm"/>
            <a:tailEnd type="none" len="sm" w="sm"/>
          </a:ln>
        </p:spPr>
      </p:sp>
      <p:sp>
        <p:nvSpPr>
          <p:cNvPr name="AutoShape 12" id="12"/>
          <p:cNvSpPr/>
          <p:nvPr/>
        </p:nvSpPr>
        <p:spPr>
          <a:xfrm flipV="true">
            <a:off x="17096262" y="8855456"/>
            <a:ext cx="0" cy="402844"/>
          </a:xfrm>
          <a:prstGeom prst="line">
            <a:avLst/>
          </a:prstGeom>
          <a:ln cap="flat" w="38100">
            <a:solidFill>
              <a:srgbClr val="EFF1E8"/>
            </a:solidFill>
            <a:prstDash val="solid"/>
            <a:headEnd type="none" len="sm" w="sm"/>
            <a:tailEnd type="none" len="sm" w="sm"/>
          </a:ln>
        </p:spPr>
      </p:sp>
      <p:sp>
        <p:nvSpPr>
          <p:cNvPr name="AutoShape 13" id="13"/>
          <p:cNvSpPr/>
          <p:nvPr/>
        </p:nvSpPr>
        <p:spPr>
          <a:xfrm flipV="true">
            <a:off x="17240250" y="8855456"/>
            <a:ext cx="0" cy="402844"/>
          </a:xfrm>
          <a:prstGeom prst="line">
            <a:avLst/>
          </a:prstGeom>
          <a:ln cap="flat" w="38100">
            <a:solidFill>
              <a:srgbClr val="EFF1E8"/>
            </a:solidFill>
            <a:prstDash val="solid"/>
            <a:headEnd type="none" len="sm" w="sm"/>
            <a:tailEnd type="none" len="sm" w="sm"/>
          </a:ln>
        </p:spPr>
      </p:sp>
      <p:grpSp>
        <p:nvGrpSpPr>
          <p:cNvPr name="Group 14" id="14"/>
          <p:cNvGrpSpPr/>
          <p:nvPr/>
        </p:nvGrpSpPr>
        <p:grpSpPr>
          <a:xfrm rot="0">
            <a:off x="1047750" y="7227423"/>
            <a:ext cx="3003266" cy="760738"/>
            <a:chOff x="0" y="0"/>
            <a:chExt cx="790984" cy="200359"/>
          </a:xfrm>
        </p:grpSpPr>
        <p:sp>
          <p:nvSpPr>
            <p:cNvPr name="Freeform 15" id="15"/>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6" id="16"/>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113746" y="7281732"/>
            <a:ext cx="2871274" cy="566420"/>
          </a:xfrm>
          <a:prstGeom prst="rect">
            <a:avLst/>
          </a:prstGeom>
        </p:spPr>
        <p:txBody>
          <a:bodyPr anchor="t" rtlCol="false" tIns="0" lIns="0" bIns="0" rIns="0">
            <a:spAutoFit/>
          </a:bodyPr>
          <a:lstStyle/>
          <a:p>
            <a:pPr algn="ctr">
              <a:lnSpc>
                <a:spcPts val="4479"/>
              </a:lnSpc>
              <a:spcBef>
                <a:spcPct val="0"/>
              </a:spcBef>
            </a:pPr>
            <a:r>
              <a:rPr lang="en-US" sz="3199">
                <a:solidFill>
                  <a:srgbClr val="70A1BD"/>
                </a:solidFill>
                <a:latin typeface="Poppins"/>
                <a:ea typeface="Poppins"/>
                <a:cs typeface="Poppins"/>
                <a:sym typeface="Poppins"/>
              </a:rPr>
              <a:t>Kaggle</a:t>
            </a:r>
          </a:p>
        </p:txBody>
      </p:sp>
      <p:grpSp>
        <p:nvGrpSpPr>
          <p:cNvPr name="Group 18" id="18"/>
          <p:cNvGrpSpPr/>
          <p:nvPr/>
        </p:nvGrpSpPr>
        <p:grpSpPr>
          <a:xfrm rot="0">
            <a:off x="4607868" y="7227435"/>
            <a:ext cx="3322739" cy="760738"/>
            <a:chOff x="0" y="0"/>
            <a:chExt cx="875125" cy="200359"/>
          </a:xfrm>
        </p:grpSpPr>
        <p:sp>
          <p:nvSpPr>
            <p:cNvPr name="Freeform 19" id="19"/>
            <p:cNvSpPr/>
            <p:nvPr/>
          </p:nvSpPr>
          <p:spPr>
            <a:xfrm flipH="false" flipV="false" rot="0">
              <a:off x="0" y="0"/>
              <a:ext cx="875125" cy="200359"/>
            </a:xfrm>
            <a:custGeom>
              <a:avLst/>
              <a:gdLst/>
              <a:ahLst/>
              <a:cxnLst/>
              <a:rect r="r" b="b" t="t" l="l"/>
              <a:pathLst>
                <a:path h="200359" w="875125">
                  <a:moveTo>
                    <a:pt x="100180" y="0"/>
                  </a:moveTo>
                  <a:lnTo>
                    <a:pt x="774945" y="0"/>
                  </a:lnTo>
                  <a:cubicBezTo>
                    <a:pt x="830273" y="0"/>
                    <a:pt x="875125" y="44852"/>
                    <a:pt x="875125" y="100180"/>
                  </a:cubicBezTo>
                  <a:lnTo>
                    <a:pt x="875125" y="100180"/>
                  </a:lnTo>
                  <a:cubicBezTo>
                    <a:pt x="875125" y="155507"/>
                    <a:pt x="830273" y="200359"/>
                    <a:pt x="774945"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20" id="20"/>
            <p:cNvSpPr txBox="true"/>
            <p:nvPr/>
          </p:nvSpPr>
          <p:spPr>
            <a:xfrm>
              <a:off x="0" y="-38100"/>
              <a:ext cx="875125" cy="238459"/>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4833601" y="7281732"/>
            <a:ext cx="2871274" cy="566420"/>
          </a:xfrm>
          <a:prstGeom prst="rect">
            <a:avLst/>
          </a:prstGeom>
        </p:spPr>
        <p:txBody>
          <a:bodyPr anchor="t" rtlCol="false" tIns="0" lIns="0" bIns="0" rIns="0">
            <a:spAutoFit/>
          </a:bodyPr>
          <a:lstStyle/>
          <a:p>
            <a:pPr algn="ctr">
              <a:lnSpc>
                <a:spcPts val="4479"/>
              </a:lnSpc>
              <a:spcBef>
                <a:spcPct val="0"/>
              </a:spcBef>
            </a:pPr>
            <a:r>
              <a:rPr lang="en-US" sz="3199">
                <a:solidFill>
                  <a:srgbClr val="70A1BD"/>
                </a:solidFill>
                <a:latin typeface="Poppins"/>
                <a:ea typeface="Poppins"/>
                <a:cs typeface="Poppins"/>
                <a:sym typeface="Poppins"/>
              </a:rPr>
              <a:t>Spread Sheet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9945029" y="1194596"/>
            <a:ext cx="7314271" cy="6182391"/>
          </a:xfrm>
          <a:custGeom>
            <a:avLst/>
            <a:gdLst/>
            <a:ahLst/>
            <a:cxnLst/>
            <a:rect r="r" b="b" t="t" l="l"/>
            <a:pathLst>
              <a:path h="6182391" w="7314271">
                <a:moveTo>
                  <a:pt x="0" y="0"/>
                </a:moveTo>
                <a:lnTo>
                  <a:pt x="7314271" y="0"/>
                </a:lnTo>
                <a:lnTo>
                  <a:pt x="7314271" y="6182391"/>
                </a:lnTo>
                <a:lnTo>
                  <a:pt x="0" y="6182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211764"/>
            <a:ext cx="10352286" cy="1046536"/>
            <a:chOff x="0" y="0"/>
            <a:chExt cx="2726528" cy="275631"/>
          </a:xfrm>
        </p:grpSpPr>
        <p:sp>
          <p:nvSpPr>
            <p:cNvPr name="Freeform 4" id="4"/>
            <p:cNvSpPr/>
            <p:nvPr/>
          </p:nvSpPr>
          <p:spPr>
            <a:xfrm flipH="false" flipV="false" rot="0">
              <a:off x="0" y="0"/>
              <a:ext cx="2726528" cy="275631"/>
            </a:xfrm>
            <a:custGeom>
              <a:avLst/>
              <a:gdLst/>
              <a:ahLst/>
              <a:cxnLst/>
              <a:rect r="r" b="b" t="t" l="l"/>
              <a:pathLst>
                <a:path h="275631" w="2726528">
                  <a:moveTo>
                    <a:pt x="74785" y="0"/>
                  </a:moveTo>
                  <a:lnTo>
                    <a:pt x="2651743" y="0"/>
                  </a:lnTo>
                  <a:cubicBezTo>
                    <a:pt x="2671577" y="0"/>
                    <a:pt x="2690599" y="7879"/>
                    <a:pt x="2704624" y="21904"/>
                  </a:cubicBezTo>
                  <a:cubicBezTo>
                    <a:pt x="2718649" y="35929"/>
                    <a:pt x="2726528" y="54951"/>
                    <a:pt x="2726528" y="74785"/>
                  </a:cubicBezTo>
                  <a:lnTo>
                    <a:pt x="2726528" y="200846"/>
                  </a:lnTo>
                  <a:cubicBezTo>
                    <a:pt x="2726528" y="220680"/>
                    <a:pt x="2718649" y="239702"/>
                    <a:pt x="2704624" y="253727"/>
                  </a:cubicBezTo>
                  <a:cubicBezTo>
                    <a:pt x="2690599" y="267752"/>
                    <a:pt x="2671577" y="275631"/>
                    <a:pt x="2651743" y="275631"/>
                  </a:cubicBezTo>
                  <a:lnTo>
                    <a:pt x="74785" y="275631"/>
                  </a:lnTo>
                  <a:cubicBezTo>
                    <a:pt x="54951" y="275631"/>
                    <a:pt x="35929" y="267752"/>
                    <a:pt x="21904" y="253727"/>
                  </a:cubicBezTo>
                  <a:cubicBezTo>
                    <a:pt x="7879" y="239702"/>
                    <a:pt x="0" y="220680"/>
                    <a:pt x="0" y="200846"/>
                  </a:cubicBezTo>
                  <a:lnTo>
                    <a:pt x="0" y="74785"/>
                  </a:lnTo>
                  <a:cubicBezTo>
                    <a:pt x="0" y="54951"/>
                    <a:pt x="7879" y="35929"/>
                    <a:pt x="21904" y="21904"/>
                  </a:cubicBezTo>
                  <a:cubicBezTo>
                    <a:pt x="35929" y="7879"/>
                    <a:pt x="54951" y="0"/>
                    <a:pt x="74785" y="0"/>
                  </a:cubicBezTo>
                  <a:close/>
                </a:path>
              </a:pathLst>
            </a:custGeom>
            <a:solidFill>
              <a:srgbClr val="343734"/>
            </a:solidFill>
          </p:spPr>
        </p:sp>
        <p:sp>
          <p:nvSpPr>
            <p:cNvPr name="TextBox 5" id="5"/>
            <p:cNvSpPr txBox="true"/>
            <p:nvPr/>
          </p:nvSpPr>
          <p:spPr>
            <a:xfrm>
              <a:off x="0" y="-38100"/>
              <a:ext cx="2726528" cy="31373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19606"/>
            <a:ext cx="773658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SUMMARY</a:t>
            </a:r>
          </a:p>
        </p:txBody>
      </p:sp>
      <p:sp>
        <p:nvSpPr>
          <p:cNvPr name="TextBox 7" id="7"/>
          <p:cNvSpPr txBox="true"/>
          <p:nvPr/>
        </p:nvSpPr>
        <p:spPr>
          <a:xfrm rot="0">
            <a:off x="1028700" y="3365500"/>
            <a:ext cx="7140660" cy="2130425"/>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M</a:t>
            </a:r>
            <a:r>
              <a:rPr lang="en-US" sz="2000">
                <a:solidFill>
                  <a:srgbClr val="343734"/>
                </a:solidFill>
                <a:latin typeface="Poppins"/>
                <a:ea typeface="Poppins"/>
                <a:cs typeface="Poppins"/>
                <a:sym typeface="Poppins"/>
              </a:rPr>
              <a:t>embangun dashboard analitik geospasial dan time-series untuk memetakan penyebaran COVID-19 di 34 provinsi Indonesia, mengungkap pola gelombang kasus dan tingkat fatalitas dari lebih dari 6,3 juta kasus. dirancang untuk mendukung kesiapsiagaan dan alokasi sumber daya berbasis data.</a:t>
            </a:r>
          </a:p>
        </p:txBody>
      </p:sp>
      <p:sp>
        <p:nvSpPr>
          <p:cNvPr name="TextBox 8" id="8"/>
          <p:cNvSpPr txBox="true"/>
          <p:nvPr/>
        </p:nvSpPr>
        <p:spPr>
          <a:xfrm rot="0">
            <a:off x="1028700" y="5598987"/>
            <a:ext cx="7140660" cy="1778000"/>
          </a:xfrm>
          <a:prstGeom prst="rect">
            <a:avLst/>
          </a:prstGeom>
        </p:spPr>
        <p:txBody>
          <a:bodyPr anchor="t" rtlCol="false" tIns="0" lIns="0" bIns="0" rIns="0">
            <a:spAutoFit/>
          </a:bodyPr>
          <a:lstStyle/>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Total Kasus: 6.397.357</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To</a:t>
            </a:r>
            <a:r>
              <a:rPr lang="en-US" sz="2000">
                <a:solidFill>
                  <a:srgbClr val="343734"/>
                </a:solidFill>
                <a:latin typeface="Poppins"/>
                <a:ea typeface="Poppins"/>
                <a:cs typeface="Poppins"/>
                <a:sym typeface="Poppins"/>
              </a:rPr>
              <a:t>tal Kematian: 157.893</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Total Sembuh: 6.205.225</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34 Pr</a:t>
            </a:r>
            <a:r>
              <a:rPr lang="en-US" sz="2000">
                <a:solidFill>
                  <a:srgbClr val="343734"/>
                </a:solidFill>
                <a:latin typeface="Poppins"/>
                <a:ea typeface="Poppins"/>
                <a:cs typeface="Poppins"/>
                <a:sym typeface="Poppins"/>
              </a:rPr>
              <a:t>ovinsi dengan peta choropleth interaktif</a:t>
            </a:r>
          </a:p>
          <a:p>
            <a:pPr algn="just">
              <a:lnSpc>
                <a:spcPts val="2800"/>
              </a:lnSpc>
              <a:spcBef>
                <a:spcPct val="0"/>
              </a:spcBef>
            </a:pPr>
          </a:p>
        </p:txBody>
      </p:sp>
      <p:grpSp>
        <p:nvGrpSpPr>
          <p:cNvPr name="Group 9" id="9"/>
          <p:cNvGrpSpPr/>
          <p:nvPr/>
        </p:nvGrpSpPr>
        <p:grpSpPr>
          <a:xfrm rot="0">
            <a:off x="8206473" y="8414835"/>
            <a:ext cx="2528429" cy="640461"/>
            <a:chOff x="0" y="0"/>
            <a:chExt cx="790984" cy="200359"/>
          </a:xfrm>
        </p:grpSpPr>
        <p:sp>
          <p:nvSpPr>
            <p:cNvPr name="Freeform 10" id="10"/>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1" id="11"/>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8262034" y="8456529"/>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Tableau</a:t>
            </a:r>
          </a:p>
        </p:txBody>
      </p:sp>
      <p:grpSp>
        <p:nvGrpSpPr>
          <p:cNvPr name="Group 13" id="13"/>
          <p:cNvGrpSpPr/>
          <p:nvPr/>
        </p:nvGrpSpPr>
        <p:grpSpPr>
          <a:xfrm rot="0">
            <a:off x="1702821" y="8414825"/>
            <a:ext cx="2528429" cy="640461"/>
            <a:chOff x="0" y="0"/>
            <a:chExt cx="790984" cy="200359"/>
          </a:xfrm>
        </p:grpSpPr>
        <p:sp>
          <p:nvSpPr>
            <p:cNvPr name="Freeform 14" id="14"/>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5" id="15"/>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758382" y="8456518"/>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Kaggle</a:t>
            </a:r>
          </a:p>
        </p:txBody>
      </p:sp>
      <p:grpSp>
        <p:nvGrpSpPr>
          <p:cNvPr name="Group 17" id="17"/>
          <p:cNvGrpSpPr/>
          <p:nvPr/>
        </p:nvGrpSpPr>
        <p:grpSpPr>
          <a:xfrm rot="0">
            <a:off x="4791647" y="8414802"/>
            <a:ext cx="2826393" cy="640461"/>
            <a:chOff x="0" y="0"/>
            <a:chExt cx="884197" cy="200359"/>
          </a:xfrm>
        </p:grpSpPr>
        <p:sp>
          <p:nvSpPr>
            <p:cNvPr name="Freeform 18" id="18"/>
            <p:cNvSpPr/>
            <p:nvPr/>
          </p:nvSpPr>
          <p:spPr>
            <a:xfrm flipH="false" flipV="false" rot="0">
              <a:off x="0" y="0"/>
              <a:ext cx="884197" cy="200359"/>
            </a:xfrm>
            <a:custGeom>
              <a:avLst/>
              <a:gdLst/>
              <a:ahLst/>
              <a:cxnLst/>
              <a:rect r="r" b="b" t="t" l="l"/>
              <a:pathLst>
                <a:path h="200359" w="884197">
                  <a:moveTo>
                    <a:pt x="100180" y="0"/>
                  </a:moveTo>
                  <a:lnTo>
                    <a:pt x="784018" y="0"/>
                  </a:lnTo>
                  <a:cubicBezTo>
                    <a:pt x="839345" y="0"/>
                    <a:pt x="884197" y="44852"/>
                    <a:pt x="884197" y="100180"/>
                  </a:cubicBezTo>
                  <a:lnTo>
                    <a:pt x="884197" y="100180"/>
                  </a:lnTo>
                  <a:cubicBezTo>
                    <a:pt x="884197" y="155507"/>
                    <a:pt x="839345" y="200359"/>
                    <a:pt x="784018"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9" id="19"/>
            <p:cNvSpPr txBox="true"/>
            <p:nvPr/>
          </p:nvSpPr>
          <p:spPr>
            <a:xfrm>
              <a:off x="0" y="-38100"/>
              <a:ext cx="884197" cy="23845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4996190" y="8456485"/>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Spread Sheet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990528" y="5702645"/>
            <a:ext cx="10123034" cy="971740"/>
            <a:chOff x="0" y="0"/>
            <a:chExt cx="3188162" cy="306041"/>
          </a:xfrm>
        </p:grpSpPr>
        <p:sp>
          <p:nvSpPr>
            <p:cNvPr name="Freeform 3" id="3"/>
            <p:cNvSpPr/>
            <p:nvPr/>
          </p:nvSpPr>
          <p:spPr>
            <a:xfrm flipH="false" flipV="false" rot="0">
              <a:off x="0" y="0"/>
              <a:ext cx="3188162" cy="306041"/>
            </a:xfrm>
            <a:custGeom>
              <a:avLst/>
              <a:gdLst/>
              <a:ahLst/>
              <a:cxnLst/>
              <a:rect r="r" b="b" t="t" l="l"/>
              <a:pathLst>
                <a:path h="306041" w="3188162">
                  <a:moveTo>
                    <a:pt x="39004" y="0"/>
                  </a:moveTo>
                  <a:lnTo>
                    <a:pt x="3149158" y="0"/>
                  </a:lnTo>
                  <a:cubicBezTo>
                    <a:pt x="3170699" y="0"/>
                    <a:pt x="3188162" y="17463"/>
                    <a:pt x="3188162" y="39004"/>
                  </a:cubicBezTo>
                  <a:lnTo>
                    <a:pt x="3188162" y="267037"/>
                  </a:lnTo>
                  <a:cubicBezTo>
                    <a:pt x="3188162" y="288578"/>
                    <a:pt x="3170699" y="306041"/>
                    <a:pt x="3149158" y="306041"/>
                  </a:cubicBezTo>
                  <a:lnTo>
                    <a:pt x="39004" y="306041"/>
                  </a:lnTo>
                  <a:cubicBezTo>
                    <a:pt x="28659" y="306041"/>
                    <a:pt x="18739" y="301932"/>
                    <a:pt x="11424" y="294617"/>
                  </a:cubicBezTo>
                  <a:cubicBezTo>
                    <a:pt x="4109" y="287302"/>
                    <a:pt x="0" y="277382"/>
                    <a:pt x="0" y="267037"/>
                  </a:cubicBezTo>
                  <a:lnTo>
                    <a:pt x="0" y="39004"/>
                  </a:lnTo>
                  <a:cubicBezTo>
                    <a:pt x="0" y="17463"/>
                    <a:pt x="17463" y="0"/>
                    <a:pt x="39004" y="0"/>
                  </a:cubicBezTo>
                  <a:close/>
                </a:path>
              </a:pathLst>
            </a:custGeom>
            <a:solidFill>
              <a:srgbClr val="343734"/>
            </a:solidFill>
          </p:spPr>
        </p:sp>
        <p:sp>
          <p:nvSpPr>
            <p:cNvPr name="TextBox 4" id="4"/>
            <p:cNvSpPr txBox="true"/>
            <p:nvPr/>
          </p:nvSpPr>
          <p:spPr>
            <a:xfrm>
              <a:off x="0" y="-38100"/>
              <a:ext cx="3188162" cy="3441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90528" y="6897417"/>
            <a:ext cx="10123034" cy="758758"/>
            <a:chOff x="0" y="0"/>
            <a:chExt cx="3188162" cy="238964"/>
          </a:xfrm>
        </p:grpSpPr>
        <p:sp>
          <p:nvSpPr>
            <p:cNvPr name="Freeform 6" id="6"/>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7" id="7"/>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90528" y="7887172"/>
            <a:ext cx="10123034" cy="758758"/>
            <a:chOff x="0" y="0"/>
            <a:chExt cx="3188162" cy="238964"/>
          </a:xfrm>
        </p:grpSpPr>
        <p:sp>
          <p:nvSpPr>
            <p:cNvPr name="Freeform 9" id="9"/>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10" id="10"/>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36845" y="-197439"/>
            <a:ext cx="3765505" cy="11168682"/>
            <a:chOff x="0" y="0"/>
            <a:chExt cx="991738" cy="2941546"/>
          </a:xfrm>
        </p:grpSpPr>
        <p:sp>
          <p:nvSpPr>
            <p:cNvPr name="Freeform 12" id="12"/>
            <p:cNvSpPr/>
            <p:nvPr/>
          </p:nvSpPr>
          <p:spPr>
            <a:xfrm flipH="false" flipV="false" rot="0">
              <a:off x="0" y="0"/>
              <a:ext cx="991738" cy="2941546"/>
            </a:xfrm>
            <a:custGeom>
              <a:avLst/>
              <a:gdLst/>
              <a:ahLst/>
              <a:cxnLst/>
              <a:rect r="r" b="b" t="t" l="l"/>
              <a:pathLst>
                <a:path h="2941546" w="991738">
                  <a:moveTo>
                    <a:pt x="0" y="0"/>
                  </a:moveTo>
                  <a:lnTo>
                    <a:pt x="991738" y="0"/>
                  </a:lnTo>
                  <a:lnTo>
                    <a:pt x="991738" y="2941546"/>
                  </a:lnTo>
                  <a:lnTo>
                    <a:pt x="0" y="2941546"/>
                  </a:lnTo>
                  <a:close/>
                </a:path>
              </a:pathLst>
            </a:custGeom>
            <a:solidFill>
              <a:srgbClr val="343734"/>
            </a:solidFill>
          </p:spPr>
        </p:sp>
        <p:sp>
          <p:nvSpPr>
            <p:cNvPr name="TextBox 13" id="13"/>
            <p:cNvSpPr txBox="true"/>
            <p:nvPr/>
          </p:nvSpPr>
          <p:spPr>
            <a:xfrm>
              <a:off x="0" y="-38100"/>
              <a:ext cx="991738" cy="297964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701994" y="579070"/>
            <a:ext cx="13854017" cy="247396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BACKGROUN</a:t>
            </a:r>
            <a:r>
              <a:rPr lang="en-US" b="true" sz="8799">
                <a:solidFill>
                  <a:srgbClr val="343734"/>
                </a:solidFill>
                <a:latin typeface="Montserrat Bold"/>
                <a:ea typeface="Montserrat Bold"/>
                <a:cs typeface="Montserrat Bold"/>
                <a:sym typeface="Montserrat Bold"/>
              </a:rPr>
              <a:t>D &amp; OBJECTIVE</a:t>
            </a:r>
          </a:p>
        </p:txBody>
      </p:sp>
      <p:sp>
        <p:nvSpPr>
          <p:cNvPr name="TextBox 15" id="15"/>
          <p:cNvSpPr txBox="true"/>
          <p:nvPr/>
        </p:nvSpPr>
        <p:spPr>
          <a:xfrm rot="0">
            <a:off x="701994" y="3266001"/>
            <a:ext cx="11127843" cy="1768475"/>
          </a:xfrm>
          <a:prstGeom prst="rect">
            <a:avLst/>
          </a:prstGeom>
        </p:spPr>
        <p:txBody>
          <a:bodyPr anchor="t" rtlCol="false" tIns="0" lIns="0" bIns="0" rIns="0">
            <a:spAutoFit/>
          </a:bodyPr>
          <a:lstStyle/>
          <a:p>
            <a:pPr algn="just">
              <a:lnSpc>
                <a:spcPts val="2799"/>
              </a:lnSpc>
              <a:spcBef>
                <a:spcPct val="0"/>
              </a:spcBef>
            </a:pPr>
            <a:r>
              <a:rPr lang="en-US" sz="1999" spc="465">
                <a:solidFill>
                  <a:srgbClr val="343734"/>
                </a:solidFill>
                <a:latin typeface="Poppins"/>
                <a:ea typeface="Poppins"/>
                <a:cs typeface="Poppins"/>
                <a:sym typeface="Poppins"/>
              </a:rPr>
              <a:t>Dashboard ini dibangun untuk menganalisis penyebaran dan dampak COVID-19 di Indonesia sepanjang periode pandemi (Mar 2020 – Okt 2022), menggabungkan data kasus, kematian, dan kesembuhan pada level nasional maupun provinsi.</a:t>
            </a:r>
          </a:p>
        </p:txBody>
      </p:sp>
      <p:sp>
        <p:nvSpPr>
          <p:cNvPr name="TextBox 16" id="16"/>
          <p:cNvSpPr txBox="true"/>
          <p:nvPr/>
        </p:nvSpPr>
        <p:spPr>
          <a:xfrm rot="0">
            <a:off x="1322708" y="5806376"/>
            <a:ext cx="9458673" cy="707129"/>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Memetakan </a:t>
            </a:r>
            <a:r>
              <a:rPr lang="en-US" sz="2007">
                <a:solidFill>
                  <a:srgbClr val="EFF1E8"/>
                </a:solidFill>
                <a:latin typeface="Poppins"/>
                <a:ea typeface="Poppins"/>
                <a:cs typeface="Poppins"/>
                <a:sym typeface="Poppins"/>
              </a:rPr>
              <a:t>distribusi kasus secara geografis untuk melihat wilayah dengan beban kasus tertinggi.</a:t>
            </a:r>
          </a:p>
        </p:txBody>
      </p:sp>
      <p:sp>
        <p:nvSpPr>
          <p:cNvPr name="TextBox 17" id="17"/>
          <p:cNvSpPr txBox="true"/>
          <p:nvPr/>
        </p:nvSpPr>
        <p:spPr>
          <a:xfrm rot="0">
            <a:off x="1073856" y="7071265"/>
            <a:ext cx="9956377"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engidentifikasi pola gelombang kasus dan kematian sepanjang waktu.</a:t>
            </a:r>
          </a:p>
        </p:txBody>
      </p:sp>
      <p:sp>
        <p:nvSpPr>
          <p:cNvPr name="TextBox 18" id="18"/>
          <p:cNvSpPr txBox="true"/>
          <p:nvPr/>
        </p:nvSpPr>
        <p:spPr>
          <a:xfrm rot="0">
            <a:off x="701994" y="8059661"/>
            <a:ext cx="10700101"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enghitung indikator kesehatan masyarakat</a:t>
            </a:r>
          </a:p>
        </p:txBody>
      </p:sp>
      <p:grpSp>
        <p:nvGrpSpPr>
          <p:cNvPr name="Group 19" id="19"/>
          <p:cNvGrpSpPr/>
          <p:nvPr/>
        </p:nvGrpSpPr>
        <p:grpSpPr>
          <a:xfrm rot="0">
            <a:off x="990528" y="8868962"/>
            <a:ext cx="10123034" cy="950442"/>
            <a:chOff x="0" y="0"/>
            <a:chExt cx="3188162" cy="299333"/>
          </a:xfrm>
        </p:grpSpPr>
        <p:sp>
          <p:nvSpPr>
            <p:cNvPr name="Freeform 20" id="20"/>
            <p:cNvSpPr/>
            <p:nvPr/>
          </p:nvSpPr>
          <p:spPr>
            <a:xfrm flipH="false" flipV="false" rot="0">
              <a:off x="0" y="0"/>
              <a:ext cx="3188162" cy="299333"/>
            </a:xfrm>
            <a:custGeom>
              <a:avLst/>
              <a:gdLst/>
              <a:ahLst/>
              <a:cxnLst/>
              <a:rect r="r" b="b" t="t" l="l"/>
              <a:pathLst>
                <a:path h="299333" w="3188162">
                  <a:moveTo>
                    <a:pt x="39004" y="0"/>
                  </a:moveTo>
                  <a:lnTo>
                    <a:pt x="3149158" y="0"/>
                  </a:lnTo>
                  <a:cubicBezTo>
                    <a:pt x="3170699" y="0"/>
                    <a:pt x="3188162" y="17463"/>
                    <a:pt x="3188162" y="39004"/>
                  </a:cubicBezTo>
                  <a:lnTo>
                    <a:pt x="3188162" y="260330"/>
                  </a:lnTo>
                  <a:cubicBezTo>
                    <a:pt x="3188162" y="281871"/>
                    <a:pt x="3170699" y="299333"/>
                    <a:pt x="3149158" y="299333"/>
                  </a:cubicBezTo>
                  <a:lnTo>
                    <a:pt x="39004" y="299333"/>
                  </a:lnTo>
                  <a:cubicBezTo>
                    <a:pt x="17463" y="299333"/>
                    <a:pt x="0" y="281871"/>
                    <a:pt x="0" y="260330"/>
                  </a:cubicBezTo>
                  <a:lnTo>
                    <a:pt x="0" y="39004"/>
                  </a:lnTo>
                  <a:cubicBezTo>
                    <a:pt x="0" y="17463"/>
                    <a:pt x="17463" y="0"/>
                    <a:pt x="39004" y="0"/>
                  </a:cubicBezTo>
                  <a:close/>
                </a:path>
              </a:pathLst>
            </a:custGeom>
            <a:solidFill>
              <a:srgbClr val="343734"/>
            </a:solidFill>
          </p:spPr>
        </p:sp>
        <p:sp>
          <p:nvSpPr>
            <p:cNvPr name="TextBox 21" id="21"/>
            <p:cNvSpPr txBox="true"/>
            <p:nvPr/>
          </p:nvSpPr>
          <p:spPr>
            <a:xfrm>
              <a:off x="0" y="-38100"/>
              <a:ext cx="3188162" cy="337433"/>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034175" y="8969780"/>
            <a:ext cx="10079387" cy="707129"/>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enyediakan alat monitoring yang dapat difilter berdasarkan lokasi dan periode waktu.</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8325943" y="2814162"/>
            <a:ext cx="9508575" cy="4695270"/>
            <a:chOff x="0" y="0"/>
            <a:chExt cx="1473127" cy="727420"/>
          </a:xfrm>
        </p:grpSpPr>
        <p:sp>
          <p:nvSpPr>
            <p:cNvPr name="Freeform 3" id="3"/>
            <p:cNvSpPr/>
            <p:nvPr/>
          </p:nvSpPr>
          <p:spPr>
            <a:xfrm flipH="false" flipV="false" rot="0">
              <a:off x="0" y="0"/>
              <a:ext cx="1473127" cy="727420"/>
            </a:xfrm>
            <a:custGeom>
              <a:avLst/>
              <a:gdLst/>
              <a:ahLst/>
              <a:cxnLst/>
              <a:rect r="r" b="b" t="t" l="l"/>
              <a:pathLst>
                <a:path h="727420" w="1473127">
                  <a:moveTo>
                    <a:pt x="0" y="0"/>
                  </a:moveTo>
                  <a:lnTo>
                    <a:pt x="1473127" y="0"/>
                  </a:lnTo>
                  <a:lnTo>
                    <a:pt x="1473127" y="727420"/>
                  </a:lnTo>
                  <a:lnTo>
                    <a:pt x="0" y="727420"/>
                  </a:lnTo>
                  <a:close/>
                </a:path>
              </a:pathLst>
            </a:custGeom>
            <a:blipFill>
              <a:blip r:embed="rId2"/>
              <a:stretch>
                <a:fillRect l="0" t="-1134" r="0" b="-1134"/>
              </a:stretch>
            </a:blipFill>
          </p:spPr>
        </p:sp>
      </p:grpSp>
      <p:grpSp>
        <p:nvGrpSpPr>
          <p:cNvPr name="Group 4" id="4"/>
          <p:cNvGrpSpPr/>
          <p:nvPr/>
        </p:nvGrpSpPr>
        <p:grpSpPr>
          <a:xfrm rot="0">
            <a:off x="1178867" y="2401653"/>
            <a:ext cx="502572" cy="697231"/>
            <a:chOff x="0" y="0"/>
            <a:chExt cx="585875" cy="812800"/>
          </a:xfrm>
        </p:grpSpPr>
        <p:sp>
          <p:nvSpPr>
            <p:cNvPr name="Freeform 5" id="5"/>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6" id="6"/>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34453" y="2401653"/>
            <a:ext cx="7088794" cy="964782"/>
            <a:chOff x="0" y="0"/>
            <a:chExt cx="2476000" cy="336982"/>
          </a:xfrm>
        </p:grpSpPr>
        <p:sp>
          <p:nvSpPr>
            <p:cNvPr name="Freeform 8" id="8"/>
            <p:cNvSpPr/>
            <p:nvPr/>
          </p:nvSpPr>
          <p:spPr>
            <a:xfrm flipH="false" flipV="false" rot="0">
              <a:off x="0" y="0"/>
              <a:ext cx="2476000" cy="336982"/>
            </a:xfrm>
            <a:custGeom>
              <a:avLst/>
              <a:gdLst/>
              <a:ahLst/>
              <a:cxnLst/>
              <a:rect r="r" b="b" t="t" l="l"/>
              <a:pathLst>
                <a:path h="336982" w="2476000">
                  <a:moveTo>
                    <a:pt x="55699" y="0"/>
                  </a:moveTo>
                  <a:lnTo>
                    <a:pt x="2420301" y="0"/>
                  </a:lnTo>
                  <a:cubicBezTo>
                    <a:pt x="2451063" y="0"/>
                    <a:pt x="2476000" y="24937"/>
                    <a:pt x="2476000" y="55699"/>
                  </a:cubicBezTo>
                  <a:lnTo>
                    <a:pt x="2476000" y="281284"/>
                  </a:lnTo>
                  <a:cubicBezTo>
                    <a:pt x="2476000" y="296056"/>
                    <a:pt x="2470132" y="310223"/>
                    <a:pt x="2459686" y="320669"/>
                  </a:cubicBezTo>
                  <a:cubicBezTo>
                    <a:pt x="2449241" y="331114"/>
                    <a:pt x="2435073" y="336982"/>
                    <a:pt x="2420301" y="336982"/>
                  </a:cubicBezTo>
                  <a:lnTo>
                    <a:pt x="55699" y="336982"/>
                  </a:lnTo>
                  <a:cubicBezTo>
                    <a:pt x="40927" y="336982"/>
                    <a:pt x="26759" y="331114"/>
                    <a:pt x="16314" y="320669"/>
                  </a:cubicBezTo>
                  <a:cubicBezTo>
                    <a:pt x="5868" y="310223"/>
                    <a:pt x="0" y="296056"/>
                    <a:pt x="0" y="281284"/>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9" id="9"/>
            <p:cNvSpPr txBox="true"/>
            <p:nvPr/>
          </p:nvSpPr>
          <p:spPr>
            <a:xfrm>
              <a:off x="0" y="-38100"/>
              <a:ext cx="2476000" cy="375082"/>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734453" y="3600222"/>
            <a:ext cx="7088794" cy="964782"/>
            <a:chOff x="0" y="0"/>
            <a:chExt cx="2476000" cy="336982"/>
          </a:xfrm>
        </p:grpSpPr>
        <p:sp>
          <p:nvSpPr>
            <p:cNvPr name="Freeform 11" id="11"/>
            <p:cNvSpPr/>
            <p:nvPr/>
          </p:nvSpPr>
          <p:spPr>
            <a:xfrm flipH="false" flipV="false" rot="0">
              <a:off x="0" y="0"/>
              <a:ext cx="2476000" cy="336982"/>
            </a:xfrm>
            <a:custGeom>
              <a:avLst/>
              <a:gdLst/>
              <a:ahLst/>
              <a:cxnLst/>
              <a:rect r="r" b="b" t="t" l="l"/>
              <a:pathLst>
                <a:path h="336982" w="2476000">
                  <a:moveTo>
                    <a:pt x="55699" y="0"/>
                  </a:moveTo>
                  <a:lnTo>
                    <a:pt x="2420301" y="0"/>
                  </a:lnTo>
                  <a:cubicBezTo>
                    <a:pt x="2451063" y="0"/>
                    <a:pt x="2476000" y="24937"/>
                    <a:pt x="2476000" y="55699"/>
                  </a:cubicBezTo>
                  <a:lnTo>
                    <a:pt x="2476000" y="281284"/>
                  </a:lnTo>
                  <a:cubicBezTo>
                    <a:pt x="2476000" y="296056"/>
                    <a:pt x="2470132" y="310223"/>
                    <a:pt x="2459686" y="320669"/>
                  </a:cubicBezTo>
                  <a:cubicBezTo>
                    <a:pt x="2449241" y="331114"/>
                    <a:pt x="2435073" y="336982"/>
                    <a:pt x="2420301" y="336982"/>
                  </a:cubicBezTo>
                  <a:lnTo>
                    <a:pt x="55699" y="336982"/>
                  </a:lnTo>
                  <a:cubicBezTo>
                    <a:pt x="40927" y="336982"/>
                    <a:pt x="26759" y="331114"/>
                    <a:pt x="16314" y="320669"/>
                  </a:cubicBezTo>
                  <a:cubicBezTo>
                    <a:pt x="5868" y="310223"/>
                    <a:pt x="0" y="296056"/>
                    <a:pt x="0" y="281284"/>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2" id="12"/>
            <p:cNvSpPr txBox="true"/>
            <p:nvPr/>
          </p:nvSpPr>
          <p:spPr>
            <a:xfrm>
              <a:off x="0" y="-38100"/>
              <a:ext cx="2476000" cy="37508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734453" y="4798791"/>
            <a:ext cx="7088794" cy="964782"/>
            <a:chOff x="0" y="0"/>
            <a:chExt cx="2476000" cy="336982"/>
          </a:xfrm>
        </p:grpSpPr>
        <p:sp>
          <p:nvSpPr>
            <p:cNvPr name="Freeform 14" id="14"/>
            <p:cNvSpPr/>
            <p:nvPr/>
          </p:nvSpPr>
          <p:spPr>
            <a:xfrm flipH="false" flipV="false" rot="0">
              <a:off x="0" y="0"/>
              <a:ext cx="2476000" cy="336982"/>
            </a:xfrm>
            <a:custGeom>
              <a:avLst/>
              <a:gdLst/>
              <a:ahLst/>
              <a:cxnLst/>
              <a:rect r="r" b="b" t="t" l="l"/>
              <a:pathLst>
                <a:path h="336982" w="2476000">
                  <a:moveTo>
                    <a:pt x="55699" y="0"/>
                  </a:moveTo>
                  <a:lnTo>
                    <a:pt x="2420301" y="0"/>
                  </a:lnTo>
                  <a:cubicBezTo>
                    <a:pt x="2451063" y="0"/>
                    <a:pt x="2476000" y="24937"/>
                    <a:pt x="2476000" y="55699"/>
                  </a:cubicBezTo>
                  <a:lnTo>
                    <a:pt x="2476000" y="281284"/>
                  </a:lnTo>
                  <a:cubicBezTo>
                    <a:pt x="2476000" y="296056"/>
                    <a:pt x="2470132" y="310223"/>
                    <a:pt x="2459686" y="320669"/>
                  </a:cubicBezTo>
                  <a:cubicBezTo>
                    <a:pt x="2449241" y="331114"/>
                    <a:pt x="2435073" y="336982"/>
                    <a:pt x="2420301" y="336982"/>
                  </a:cubicBezTo>
                  <a:lnTo>
                    <a:pt x="55699" y="336982"/>
                  </a:lnTo>
                  <a:cubicBezTo>
                    <a:pt x="40927" y="336982"/>
                    <a:pt x="26759" y="331114"/>
                    <a:pt x="16314" y="320669"/>
                  </a:cubicBezTo>
                  <a:cubicBezTo>
                    <a:pt x="5868" y="310223"/>
                    <a:pt x="0" y="296056"/>
                    <a:pt x="0" y="281284"/>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5" id="15"/>
            <p:cNvSpPr txBox="true"/>
            <p:nvPr/>
          </p:nvSpPr>
          <p:spPr>
            <a:xfrm>
              <a:off x="0" y="-38100"/>
              <a:ext cx="2476000" cy="37508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734453" y="5997360"/>
            <a:ext cx="7088794" cy="697231"/>
            <a:chOff x="0" y="0"/>
            <a:chExt cx="2476000" cy="243532"/>
          </a:xfrm>
        </p:grpSpPr>
        <p:sp>
          <p:nvSpPr>
            <p:cNvPr name="Freeform 17" id="17"/>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8" id="18"/>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734453" y="6932716"/>
            <a:ext cx="7088794" cy="697231"/>
            <a:chOff x="0" y="0"/>
            <a:chExt cx="2476000" cy="243532"/>
          </a:xfrm>
        </p:grpSpPr>
        <p:sp>
          <p:nvSpPr>
            <p:cNvPr name="Freeform 20" id="20"/>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21" id="21"/>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847045" y="2542281"/>
            <a:ext cx="5897892" cy="711200"/>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KPI</a:t>
            </a:r>
            <a:r>
              <a:rPr lang="en-US" sz="1999">
                <a:solidFill>
                  <a:srgbClr val="EFF1E8"/>
                </a:solidFill>
                <a:latin typeface="Poppins"/>
                <a:ea typeface="Poppins"/>
                <a:cs typeface="Poppins"/>
                <a:sym typeface="Poppins"/>
              </a:rPr>
              <a:t> Card: Total Cases, Total Deaths, Total Recovered</a:t>
            </a:r>
          </a:p>
        </p:txBody>
      </p:sp>
      <p:sp>
        <p:nvSpPr>
          <p:cNvPr name="TextBox 23" id="23"/>
          <p:cNvSpPr txBox="true"/>
          <p:nvPr/>
        </p:nvSpPr>
        <p:spPr>
          <a:xfrm rot="0">
            <a:off x="1028700" y="2586546"/>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1</a:t>
            </a:r>
          </a:p>
        </p:txBody>
      </p:sp>
      <p:sp>
        <p:nvSpPr>
          <p:cNvPr name="TextBox 24" id="24"/>
          <p:cNvSpPr txBox="true"/>
          <p:nvPr/>
        </p:nvSpPr>
        <p:spPr>
          <a:xfrm rot="0">
            <a:off x="1847045" y="3740850"/>
            <a:ext cx="5897892" cy="711200"/>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Bar</a:t>
            </a:r>
            <a:r>
              <a:rPr lang="en-US" sz="1999">
                <a:solidFill>
                  <a:srgbClr val="EFF1E8"/>
                </a:solidFill>
                <a:latin typeface="Poppins"/>
                <a:ea typeface="Poppins"/>
                <a:cs typeface="Poppins"/>
                <a:sym typeface="Poppins"/>
              </a:rPr>
              <a:t> Chart: Top 10 Provinsi dengan kasus tertinggi</a:t>
            </a:r>
          </a:p>
        </p:txBody>
      </p:sp>
      <p:sp>
        <p:nvSpPr>
          <p:cNvPr name="TextBox 25" id="25"/>
          <p:cNvSpPr txBox="true"/>
          <p:nvPr/>
        </p:nvSpPr>
        <p:spPr>
          <a:xfrm rot="0">
            <a:off x="1028700" y="3784696"/>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2</a:t>
            </a:r>
          </a:p>
        </p:txBody>
      </p:sp>
      <p:sp>
        <p:nvSpPr>
          <p:cNvPr name="TextBox 26" id="26"/>
          <p:cNvSpPr txBox="true"/>
          <p:nvPr/>
        </p:nvSpPr>
        <p:spPr>
          <a:xfrm rot="0">
            <a:off x="1847045" y="4939419"/>
            <a:ext cx="5897892" cy="711200"/>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Choropleth Map: Distribusi kasus per provinsi se-Indonesia</a:t>
            </a:r>
          </a:p>
        </p:txBody>
      </p:sp>
      <p:sp>
        <p:nvSpPr>
          <p:cNvPr name="TextBox 27" id="27"/>
          <p:cNvSpPr txBox="true"/>
          <p:nvPr/>
        </p:nvSpPr>
        <p:spPr>
          <a:xfrm rot="0">
            <a:off x="1028700" y="4984103"/>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3</a:t>
            </a:r>
          </a:p>
        </p:txBody>
      </p:sp>
      <p:sp>
        <p:nvSpPr>
          <p:cNvPr name="TextBox 28" id="28"/>
          <p:cNvSpPr txBox="true"/>
          <p:nvPr/>
        </p:nvSpPr>
        <p:spPr>
          <a:xfrm rot="0">
            <a:off x="1847045" y="6137988"/>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Line</a:t>
            </a:r>
            <a:r>
              <a:rPr lang="en-US" sz="1999">
                <a:solidFill>
                  <a:srgbClr val="EFF1E8"/>
                </a:solidFill>
                <a:latin typeface="Poppins"/>
                <a:ea typeface="Poppins"/>
                <a:cs typeface="Poppins"/>
                <a:sym typeface="Poppins"/>
              </a:rPr>
              <a:t> Chart: Tren New Cases vs New Deaths</a:t>
            </a:r>
          </a:p>
        </p:txBody>
      </p:sp>
      <p:sp>
        <p:nvSpPr>
          <p:cNvPr name="TextBox 29" id="29"/>
          <p:cNvSpPr txBox="true"/>
          <p:nvPr/>
        </p:nvSpPr>
        <p:spPr>
          <a:xfrm rot="0">
            <a:off x="1028700" y="6052756"/>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4</a:t>
            </a:r>
          </a:p>
        </p:txBody>
      </p:sp>
      <p:sp>
        <p:nvSpPr>
          <p:cNvPr name="TextBox 30" id="30"/>
          <p:cNvSpPr txBox="true"/>
          <p:nvPr/>
        </p:nvSpPr>
        <p:spPr>
          <a:xfrm rot="0">
            <a:off x="1847045" y="7073345"/>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Fil</a:t>
            </a:r>
            <a:r>
              <a:rPr lang="en-US" sz="1999">
                <a:solidFill>
                  <a:srgbClr val="EFF1E8"/>
                </a:solidFill>
                <a:latin typeface="Poppins"/>
                <a:ea typeface="Poppins"/>
                <a:cs typeface="Poppins"/>
                <a:sym typeface="Poppins"/>
              </a:rPr>
              <a:t>ter inter</a:t>
            </a:r>
            <a:r>
              <a:rPr lang="en-US" sz="1999">
                <a:solidFill>
                  <a:srgbClr val="EFF1E8"/>
                </a:solidFill>
                <a:latin typeface="Poppins"/>
                <a:ea typeface="Poppins"/>
                <a:cs typeface="Poppins"/>
                <a:sym typeface="Poppins"/>
              </a:rPr>
              <a:t>aktif: Lokasi &amp; Timeline </a:t>
            </a:r>
          </a:p>
        </p:txBody>
      </p:sp>
      <p:sp>
        <p:nvSpPr>
          <p:cNvPr name="TextBox 31" id="31"/>
          <p:cNvSpPr txBox="true"/>
          <p:nvPr/>
        </p:nvSpPr>
        <p:spPr>
          <a:xfrm rot="0">
            <a:off x="1028700" y="6983810"/>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5</a:t>
            </a:r>
          </a:p>
        </p:txBody>
      </p:sp>
      <p:sp>
        <p:nvSpPr>
          <p:cNvPr name="TextBox 32" id="32"/>
          <p:cNvSpPr txBox="true"/>
          <p:nvPr/>
        </p:nvSpPr>
        <p:spPr>
          <a:xfrm rot="0">
            <a:off x="1224722" y="358860"/>
            <a:ext cx="16034578" cy="1245235"/>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DASHBOARD OVERVIEW</a:t>
            </a:r>
          </a:p>
        </p:txBody>
      </p:sp>
      <p:sp>
        <p:nvSpPr>
          <p:cNvPr name="TextBox 33" id="33"/>
          <p:cNvSpPr txBox="true"/>
          <p:nvPr/>
        </p:nvSpPr>
        <p:spPr>
          <a:xfrm rot="0">
            <a:off x="8325943" y="7788286"/>
            <a:ext cx="5897892" cy="358775"/>
          </a:xfrm>
          <a:prstGeom prst="rect">
            <a:avLst/>
          </a:prstGeom>
        </p:spPr>
        <p:txBody>
          <a:bodyPr anchor="t" rtlCol="false" tIns="0" lIns="0" bIns="0" rIns="0">
            <a:spAutoFit/>
          </a:bodyPr>
          <a:lstStyle/>
          <a:p>
            <a:pPr algn="l">
              <a:lnSpc>
                <a:spcPts val="2799"/>
              </a:lnSpc>
              <a:spcBef>
                <a:spcPct val="0"/>
              </a:spcBef>
            </a:pPr>
            <a:r>
              <a:rPr lang="en-US" sz="1999" u="sng">
                <a:solidFill>
                  <a:srgbClr val="5E17EB"/>
                </a:solidFill>
                <a:latin typeface="Poppins"/>
                <a:ea typeface="Poppins"/>
                <a:cs typeface="Poppins"/>
                <a:sym typeface="Poppins"/>
                <a:hlinkClick r:id="rId3" tooltip="https://public.tableau.com/views/Covid19_17851657217040/Dashboard1?:language=en-US&amp;:sid=&amp;:redirect=auth&amp;:display_count=n&amp;:origin=viz_share_link"/>
              </a:rPr>
              <a:t>KPI Card: Revenue &amp; Total Customers</a:t>
            </a:r>
          </a:p>
        </p:txBody>
      </p:sp>
      <p:sp>
        <p:nvSpPr>
          <p:cNvPr name="Freeform 34" id="34"/>
          <p:cNvSpPr/>
          <p:nvPr/>
        </p:nvSpPr>
        <p:spPr>
          <a:xfrm flipH="true" flipV="false" rot="0">
            <a:off x="-296056" y="6239822"/>
            <a:ext cx="3041556" cy="4472876"/>
          </a:xfrm>
          <a:custGeom>
            <a:avLst/>
            <a:gdLst/>
            <a:ahLst/>
            <a:cxnLst/>
            <a:rect r="r" b="b" t="t" l="l"/>
            <a:pathLst>
              <a:path h="4472876" w="3041556">
                <a:moveTo>
                  <a:pt x="3041556" y="0"/>
                </a:moveTo>
                <a:lnTo>
                  <a:pt x="0" y="0"/>
                </a:lnTo>
                <a:lnTo>
                  <a:pt x="0" y="4472876"/>
                </a:lnTo>
                <a:lnTo>
                  <a:pt x="3041556" y="4472876"/>
                </a:lnTo>
                <a:lnTo>
                  <a:pt x="30415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7059384" y="-675769"/>
            <a:ext cx="1773784" cy="11876099"/>
            <a:chOff x="0" y="0"/>
            <a:chExt cx="467170" cy="3127862"/>
          </a:xfrm>
        </p:grpSpPr>
        <p:sp>
          <p:nvSpPr>
            <p:cNvPr name="Freeform 3" id="3"/>
            <p:cNvSpPr/>
            <p:nvPr/>
          </p:nvSpPr>
          <p:spPr>
            <a:xfrm flipH="false" flipV="false" rot="0">
              <a:off x="0" y="0"/>
              <a:ext cx="467170" cy="3127862"/>
            </a:xfrm>
            <a:custGeom>
              <a:avLst/>
              <a:gdLst/>
              <a:ahLst/>
              <a:cxnLst/>
              <a:rect r="r" b="b" t="t" l="l"/>
              <a:pathLst>
                <a:path h="3127862" w="467170">
                  <a:moveTo>
                    <a:pt x="0" y="0"/>
                  </a:moveTo>
                  <a:lnTo>
                    <a:pt x="467170" y="0"/>
                  </a:lnTo>
                  <a:lnTo>
                    <a:pt x="467170" y="3127862"/>
                  </a:lnTo>
                  <a:lnTo>
                    <a:pt x="0" y="3127862"/>
                  </a:lnTo>
                  <a:close/>
                </a:path>
              </a:pathLst>
            </a:custGeom>
            <a:solidFill>
              <a:srgbClr val="343734"/>
            </a:solidFill>
          </p:spPr>
        </p:sp>
        <p:sp>
          <p:nvSpPr>
            <p:cNvPr name="TextBox 4" id="4"/>
            <p:cNvSpPr txBox="true"/>
            <p:nvPr/>
          </p:nvSpPr>
          <p:spPr>
            <a:xfrm>
              <a:off x="0" y="-57150"/>
              <a:ext cx="467170" cy="3185012"/>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1028700" y="1123950"/>
            <a:ext cx="1385401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INSIGHT</a:t>
            </a:r>
          </a:p>
        </p:txBody>
      </p:sp>
      <p:grpSp>
        <p:nvGrpSpPr>
          <p:cNvPr name="Group 6" id="6"/>
          <p:cNvGrpSpPr/>
          <p:nvPr/>
        </p:nvGrpSpPr>
        <p:grpSpPr>
          <a:xfrm rot="0">
            <a:off x="474946" y="3593602"/>
            <a:ext cx="5176543" cy="2934108"/>
            <a:chOff x="0" y="0"/>
            <a:chExt cx="1363369" cy="772769"/>
          </a:xfrm>
        </p:grpSpPr>
        <p:sp>
          <p:nvSpPr>
            <p:cNvPr name="Freeform 7" id="7"/>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8" id="8"/>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001974" y="3593602"/>
            <a:ext cx="5176543" cy="2934108"/>
            <a:chOff x="0" y="0"/>
            <a:chExt cx="1363369" cy="772769"/>
          </a:xfrm>
        </p:grpSpPr>
        <p:sp>
          <p:nvSpPr>
            <p:cNvPr name="Freeform 10" id="10"/>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1" id="11"/>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30942" y="3593602"/>
            <a:ext cx="5176543" cy="2934108"/>
            <a:chOff x="0" y="0"/>
            <a:chExt cx="1363369" cy="772769"/>
          </a:xfrm>
        </p:grpSpPr>
        <p:sp>
          <p:nvSpPr>
            <p:cNvPr name="Freeform 13" id="13"/>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4" id="14"/>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3086468" y="6814052"/>
            <a:ext cx="5176543" cy="2934108"/>
            <a:chOff x="0" y="0"/>
            <a:chExt cx="1363369" cy="772769"/>
          </a:xfrm>
        </p:grpSpPr>
        <p:sp>
          <p:nvSpPr>
            <p:cNvPr name="Freeform 16" id="16"/>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7" id="17"/>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590246" y="6689635"/>
            <a:ext cx="5176543" cy="2934108"/>
            <a:chOff x="0" y="0"/>
            <a:chExt cx="1363369" cy="772769"/>
          </a:xfrm>
        </p:grpSpPr>
        <p:sp>
          <p:nvSpPr>
            <p:cNvPr name="Freeform 19" id="19"/>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20" id="20"/>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496963" y="8593415"/>
            <a:ext cx="1145602" cy="1145602"/>
          </a:xfrm>
          <a:custGeom>
            <a:avLst/>
            <a:gdLst/>
            <a:ahLst/>
            <a:cxnLst/>
            <a:rect r="r" b="b" t="t" l="l"/>
            <a:pathLst>
              <a:path h="1145602" w="1145602">
                <a:moveTo>
                  <a:pt x="0" y="0"/>
                </a:moveTo>
                <a:lnTo>
                  <a:pt x="1145602" y="0"/>
                </a:lnTo>
                <a:lnTo>
                  <a:pt x="1145602" y="1145602"/>
                </a:lnTo>
                <a:lnTo>
                  <a:pt x="0" y="1145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800644"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Kasus</a:t>
            </a:r>
          </a:p>
        </p:txBody>
      </p:sp>
      <p:sp>
        <p:nvSpPr>
          <p:cNvPr name="TextBox 23" id="23"/>
          <p:cNvSpPr txBox="true"/>
          <p:nvPr/>
        </p:nvSpPr>
        <p:spPr>
          <a:xfrm rot="0">
            <a:off x="799737" y="4709838"/>
            <a:ext cx="4221162" cy="1416050"/>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Jakar</a:t>
            </a:r>
            <a:r>
              <a:rPr lang="en-US" sz="1999">
                <a:solidFill>
                  <a:srgbClr val="343734"/>
                </a:solidFill>
                <a:latin typeface="Poppins"/>
                <a:ea typeface="Poppins"/>
                <a:cs typeface="Poppins"/>
                <a:sym typeface="Poppins"/>
              </a:rPr>
              <a:t>ta Raya dan Jawa Barat merupakan dua wilayah dengan kasus tertinggi secara nasional, jauh di atas provinsi lainnya.</a:t>
            </a:r>
          </a:p>
        </p:txBody>
      </p:sp>
      <p:sp>
        <p:nvSpPr>
          <p:cNvPr name="TextBox 24" id="24"/>
          <p:cNvSpPr txBox="true"/>
          <p:nvPr/>
        </p:nvSpPr>
        <p:spPr>
          <a:xfrm rot="0">
            <a:off x="800644" y="3641793"/>
            <a:ext cx="875213" cy="71247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1</a:t>
            </a:r>
          </a:p>
        </p:txBody>
      </p:sp>
      <p:sp>
        <p:nvSpPr>
          <p:cNvPr name="TextBox 25" id="25"/>
          <p:cNvSpPr txBox="true"/>
          <p:nvPr/>
        </p:nvSpPr>
        <p:spPr>
          <a:xfrm rot="0">
            <a:off x="6327672"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Kasus</a:t>
            </a:r>
          </a:p>
        </p:txBody>
      </p:sp>
      <p:sp>
        <p:nvSpPr>
          <p:cNvPr name="TextBox 26" id="26"/>
          <p:cNvSpPr txBox="true"/>
          <p:nvPr/>
        </p:nvSpPr>
        <p:spPr>
          <a:xfrm rot="0">
            <a:off x="6327672" y="4709838"/>
            <a:ext cx="4221162" cy="2120900"/>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5 pr</a:t>
            </a:r>
            <a:r>
              <a:rPr lang="en-US" sz="1999">
                <a:solidFill>
                  <a:srgbClr val="343734"/>
                </a:solidFill>
                <a:latin typeface="Poppins"/>
                <a:ea typeface="Poppins"/>
                <a:cs typeface="Poppins"/>
                <a:sym typeface="Poppins"/>
              </a:rPr>
              <a:t>ovinsi teratas berada di Pulau Jawa. mengindikasikan konsentrasi kasus yang sangat tinggi di wilayah dengan kepadatan penduduk dan mobilitas tertinggi di Indonesia.</a:t>
            </a:r>
          </a:p>
        </p:txBody>
      </p:sp>
      <p:sp>
        <p:nvSpPr>
          <p:cNvPr name="TextBox 27" id="27"/>
          <p:cNvSpPr txBox="true"/>
          <p:nvPr/>
        </p:nvSpPr>
        <p:spPr>
          <a:xfrm rot="0">
            <a:off x="6327672" y="3641793"/>
            <a:ext cx="875213" cy="71247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2</a:t>
            </a:r>
          </a:p>
        </p:txBody>
      </p:sp>
      <p:sp>
        <p:nvSpPr>
          <p:cNvPr name="TextBox 28" id="28"/>
          <p:cNvSpPr txBox="true"/>
          <p:nvPr/>
        </p:nvSpPr>
        <p:spPr>
          <a:xfrm rot="0">
            <a:off x="11856640"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Gelombang</a:t>
            </a:r>
          </a:p>
        </p:txBody>
      </p:sp>
      <p:sp>
        <p:nvSpPr>
          <p:cNvPr name="TextBox 29" id="29"/>
          <p:cNvSpPr txBox="true"/>
          <p:nvPr/>
        </p:nvSpPr>
        <p:spPr>
          <a:xfrm rot="0">
            <a:off x="11854792" y="4709838"/>
            <a:ext cx="4221162" cy="1416050"/>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du</a:t>
            </a:r>
            <a:r>
              <a:rPr lang="en-US" sz="1999">
                <a:solidFill>
                  <a:srgbClr val="343734"/>
                </a:solidFill>
                <a:latin typeface="Poppins"/>
                <a:ea typeface="Poppins"/>
                <a:cs typeface="Poppins"/>
                <a:sym typeface="Poppins"/>
              </a:rPr>
              <a:t>a gelombang besar sekitar Jul 2021 dan Feb-Mar 2022, diselingi gelombang kecil di sekitar pertengahan 2022.</a:t>
            </a:r>
          </a:p>
        </p:txBody>
      </p:sp>
      <p:sp>
        <p:nvSpPr>
          <p:cNvPr name="TextBox 30" id="30"/>
          <p:cNvSpPr txBox="true"/>
          <p:nvPr/>
        </p:nvSpPr>
        <p:spPr>
          <a:xfrm rot="0">
            <a:off x="11856640" y="364179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3</a:t>
            </a:r>
          </a:p>
        </p:txBody>
      </p:sp>
      <p:sp>
        <p:nvSpPr>
          <p:cNvPr name="TextBox 31" id="31"/>
          <p:cNvSpPr txBox="true"/>
          <p:nvPr/>
        </p:nvSpPr>
        <p:spPr>
          <a:xfrm rot="0">
            <a:off x="3412166" y="760008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G</a:t>
            </a:r>
            <a:r>
              <a:rPr lang="en-US" b="true" sz="1999">
                <a:solidFill>
                  <a:srgbClr val="343734"/>
                </a:solidFill>
                <a:latin typeface="Montserrat Bold"/>
                <a:ea typeface="Montserrat Bold"/>
                <a:cs typeface="Montserrat Bold"/>
                <a:sym typeface="Montserrat Bold"/>
              </a:rPr>
              <a:t>elombang</a:t>
            </a:r>
          </a:p>
        </p:txBody>
      </p:sp>
      <p:sp>
        <p:nvSpPr>
          <p:cNvPr name="TextBox 32" id="32"/>
          <p:cNvSpPr txBox="true"/>
          <p:nvPr/>
        </p:nvSpPr>
        <p:spPr>
          <a:xfrm rot="0">
            <a:off x="3412166" y="7930288"/>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Pada </a:t>
            </a:r>
            <a:r>
              <a:rPr lang="en-US" sz="1999">
                <a:solidFill>
                  <a:srgbClr val="343734"/>
                </a:solidFill>
                <a:latin typeface="Poppins"/>
                <a:ea typeface="Poppins"/>
                <a:cs typeface="Poppins"/>
                <a:sym typeface="Poppins"/>
              </a:rPr>
              <a:t>gelombang Feb–Mar 2022, jumlah kasus baru mencapai puncak yang sebanding atau lebih tinggi dari gelombang sebelumnya.</a:t>
            </a:r>
          </a:p>
        </p:txBody>
      </p:sp>
      <p:sp>
        <p:nvSpPr>
          <p:cNvPr name="TextBox 33" id="33"/>
          <p:cNvSpPr txBox="true"/>
          <p:nvPr/>
        </p:nvSpPr>
        <p:spPr>
          <a:xfrm rot="0">
            <a:off x="3412166" y="686224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4</a:t>
            </a:r>
          </a:p>
        </p:txBody>
      </p:sp>
      <p:sp>
        <p:nvSpPr>
          <p:cNvPr name="TextBox 34" id="34"/>
          <p:cNvSpPr txBox="true"/>
          <p:nvPr/>
        </p:nvSpPr>
        <p:spPr>
          <a:xfrm rot="0">
            <a:off x="8939194" y="7546089"/>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Outcome</a:t>
            </a:r>
          </a:p>
        </p:txBody>
      </p:sp>
      <p:sp>
        <p:nvSpPr>
          <p:cNvPr name="TextBox 35" id="35"/>
          <p:cNvSpPr txBox="true"/>
          <p:nvPr/>
        </p:nvSpPr>
        <p:spPr>
          <a:xfrm rot="0">
            <a:off x="8939194" y="7876289"/>
            <a:ext cx="4221162" cy="1416050"/>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Ti</a:t>
            </a:r>
            <a:r>
              <a:rPr lang="en-US" sz="1999">
                <a:solidFill>
                  <a:srgbClr val="343734"/>
                </a:solidFill>
                <a:latin typeface="Poppins"/>
                <a:ea typeface="Poppins"/>
                <a:cs typeface="Poppins"/>
                <a:sym typeface="Poppins"/>
              </a:rPr>
              <a:t>ngkat kesembuhan 97% menunjukkan secara agregat sistem kesehatan mampu menangani mayoritas kasus.</a:t>
            </a:r>
          </a:p>
        </p:txBody>
      </p:sp>
      <p:sp>
        <p:nvSpPr>
          <p:cNvPr name="TextBox 36" id="36"/>
          <p:cNvSpPr txBox="true"/>
          <p:nvPr/>
        </p:nvSpPr>
        <p:spPr>
          <a:xfrm rot="0">
            <a:off x="8939194" y="686224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5</a:t>
            </a:r>
          </a:p>
        </p:txBody>
      </p:sp>
      <p:sp>
        <p:nvSpPr>
          <p:cNvPr name="Freeform 37" id="37"/>
          <p:cNvSpPr/>
          <p:nvPr/>
        </p:nvSpPr>
        <p:spPr>
          <a:xfrm flipH="true" flipV="false" rot="0">
            <a:off x="15561883" y="8602558"/>
            <a:ext cx="1145602" cy="1145602"/>
          </a:xfrm>
          <a:custGeom>
            <a:avLst/>
            <a:gdLst/>
            <a:ahLst/>
            <a:cxnLst/>
            <a:rect r="r" b="b" t="t" l="l"/>
            <a:pathLst>
              <a:path h="1145602" w="1145602">
                <a:moveTo>
                  <a:pt x="1145602" y="0"/>
                </a:moveTo>
                <a:lnTo>
                  <a:pt x="0" y="0"/>
                </a:lnTo>
                <a:lnTo>
                  <a:pt x="0" y="1145601"/>
                </a:lnTo>
                <a:lnTo>
                  <a:pt x="1145602" y="1145601"/>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7059384" y="-675769"/>
            <a:ext cx="1773784" cy="11876099"/>
            <a:chOff x="0" y="0"/>
            <a:chExt cx="467170" cy="3127862"/>
          </a:xfrm>
        </p:grpSpPr>
        <p:sp>
          <p:nvSpPr>
            <p:cNvPr name="Freeform 3" id="3"/>
            <p:cNvSpPr/>
            <p:nvPr/>
          </p:nvSpPr>
          <p:spPr>
            <a:xfrm flipH="false" flipV="false" rot="0">
              <a:off x="0" y="0"/>
              <a:ext cx="467170" cy="3127862"/>
            </a:xfrm>
            <a:custGeom>
              <a:avLst/>
              <a:gdLst/>
              <a:ahLst/>
              <a:cxnLst/>
              <a:rect r="r" b="b" t="t" l="l"/>
              <a:pathLst>
                <a:path h="3127862" w="467170">
                  <a:moveTo>
                    <a:pt x="0" y="0"/>
                  </a:moveTo>
                  <a:lnTo>
                    <a:pt x="467170" y="0"/>
                  </a:lnTo>
                  <a:lnTo>
                    <a:pt x="467170" y="3127862"/>
                  </a:lnTo>
                  <a:lnTo>
                    <a:pt x="0" y="3127862"/>
                  </a:lnTo>
                  <a:close/>
                </a:path>
              </a:pathLst>
            </a:custGeom>
            <a:solidFill>
              <a:srgbClr val="343734"/>
            </a:solidFill>
          </p:spPr>
        </p:sp>
        <p:sp>
          <p:nvSpPr>
            <p:cNvPr name="TextBox 4" id="4"/>
            <p:cNvSpPr txBox="true"/>
            <p:nvPr/>
          </p:nvSpPr>
          <p:spPr>
            <a:xfrm>
              <a:off x="0" y="-57150"/>
              <a:ext cx="467170" cy="3185012"/>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1028700" y="1123950"/>
            <a:ext cx="1385401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RECOMMENDATIONS</a:t>
            </a:r>
          </a:p>
        </p:txBody>
      </p:sp>
      <p:grpSp>
        <p:nvGrpSpPr>
          <p:cNvPr name="Group 6" id="6"/>
          <p:cNvGrpSpPr/>
          <p:nvPr/>
        </p:nvGrpSpPr>
        <p:grpSpPr>
          <a:xfrm rot="0">
            <a:off x="474946" y="3593602"/>
            <a:ext cx="5176543" cy="2934108"/>
            <a:chOff x="0" y="0"/>
            <a:chExt cx="1363369" cy="772769"/>
          </a:xfrm>
        </p:grpSpPr>
        <p:sp>
          <p:nvSpPr>
            <p:cNvPr name="Freeform 7" id="7"/>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8" id="8"/>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001974" y="3593602"/>
            <a:ext cx="5176543" cy="2934108"/>
            <a:chOff x="0" y="0"/>
            <a:chExt cx="1363369" cy="772769"/>
          </a:xfrm>
        </p:grpSpPr>
        <p:sp>
          <p:nvSpPr>
            <p:cNvPr name="Freeform 10" id="10"/>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1" id="11"/>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30942" y="3593602"/>
            <a:ext cx="5176543" cy="2934108"/>
            <a:chOff x="0" y="0"/>
            <a:chExt cx="1363369" cy="772769"/>
          </a:xfrm>
        </p:grpSpPr>
        <p:sp>
          <p:nvSpPr>
            <p:cNvPr name="Freeform 13" id="13"/>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4" id="14"/>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5697174" y="6937285"/>
            <a:ext cx="5176543" cy="2934108"/>
            <a:chOff x="0" y="0"/>
            <a:chExt cx="1363369" cy="772769"/>
          </a:xfrm>
        </p:grpSpPr>
        <p:sp>
          <p:nvSpPr>
            <p:cNvPr name="Freeform 16" id="16"/>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7" id="17"/>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496963" y="8593415"/>
            <a:ext cx="1145602" cy="1145602"/>
          </a:xfrm>
          <a:custGeom>
            <a:avLst/>
            <a:gdLst/>
            <a:ahLst/>
            <a:cxnLst/>
            <a:rect r="r" b="b" t="t" l="l"/>
            <a:pathLst>
              <a:path h="1145602" w="1145602">
                <a:moveTo>
                  <a:pt x="0" y="0"/>
                </a:moveTo>
                <a:lnTo>
                  <a:pt x="1145602" y="0"/>
                </a:lnTo>
                <a:lnTo>
                  <a:pt x="1145602" y="1145602"/>
                </a:lnTo>
                <a:lnTo>
                  <a:pt x="0" y="1145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800644"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Prioritas</a:t>
            </a:r>
          </a:p>
        </p:txBody>
      </p:sp>
      <p:sp>
        <p:nvSpPr>
          <p:cNvPr name="TextBox 20" id="20"/>
          <p:cNvSpPr txBox="true"/>
          <p:nvPr/>
        </p:nvSpPr>
        <p:spPr>
          <a:xfrm rot="0">
            <a:off x="799737" y="4731252"/>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Prior</a:t>
            </a:r>
            <a:r>
              <a:rPr lang="en-US" sz="1999">
                <a:solidFill>
                  <a:srgbClr val="343734"/>
                </a:solidFill>
                <a:latin typeface="Poppins"/>
                <a:ea typeface="Poppins"/>
                <a:cs typeface="Poppins"/>
                <a:sym typeface="Poppins"/>
              </a:rPr>
              <a:t>itaskan kesiapsiagaan sumber daya kesehatan di provinsi Pulau Jawa. Mengingat kontribusinya yang dominan terhadap total kasus nasional.</a:t>
            </a:r>
          </a:p>
        </p:txBody>
      </p:sp>
      <p:sp>
        <p:nvSpPr>
          <p:cNvPr name="TextBox 21" id="21"/>
          <p:cNvSpPr txBox="true"/>
          <p:nvPr/>
        </p:nvSpPr>
        <p:spPr>
          <a:xfrm rot="0">
            <a:off x="800644" y="3641793"/>
            <a:ext cx="875213" cy="71247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1</a:t>
            </a:r>
          </a:p>
        </p:txBody>
      </p:sp>
      <p:sp>
        <p:nvSpPr>
          <p:cNvPr name="TextBox 22" id="22"/>
          <p:cNvSpPr txBox="true"/>
          <p:nvPr/>
        </p:nvSpPr>
        <p:spPr>
          <a:xfrm rot="0">
            <a:off x="6327672"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Rasio</a:t>
            </a:r>
          </a:p>
        </p:txBody>
      </p:sp>
      <p:sp>
        <p:nvSpPr>
          <p:cNvPr name="TextBox 23" id="23"/>
          <p:cNvSpPr txBox="true"/>
          <p:nvPr/>
        </p:nvSpPr>
        <p:spPr>
          <a:xfrm rot="0">
            <a:off x="6327672" y="4709838"/>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Gunakan rasio kasus vs kematian sebagai early warning indicator untuk menilai tingkat keparahan gelombang baru secara lebih cepat,</a:t>
            </a:r>
          </a:p>
        </p:txBody>
      </p:sp>
      <p:sp>
        <p:nvSpPr>
          <p:cNvPr name="TextBox 24" id="24"/>
          <p:cNvSpPr txBox="true"/>
          <p:nvPr/>
        </p:nvSpPr>
        <p:spPr>
          <a:xfrm rot="0">
            <a:off x="6327672" y="3641793"/>
            <a:ext cx="875213" cy="71247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2</a:t>
            </a:r>
          </a:p>
        </p:txBody>
      </p:sp>
      <p:sp>
        <p:nvSpPr>
          <p:cNvPr name="TextBox 25" id="25"/>
          <p:cNvSpPr txBox="true"/>
          <p:nvPr/>
        </p:nvSpPr>
        <p:spPr>
          <a:xfrm rot="0">
            <a:off x="11856640" y="4379638"/>
            <a:ext cx="4460007" cy="682625"/>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Lakukan drill-down CFR per provinsi</a:t>
            </a:r>
          </a:p>
        </p:txBody>
      </p:sp>
      <p:sp>
        <p:nvSpPr>
          <p:cNvPr name="TextBox 26" id="26"/>
          <p:cNvSpPr txBox="true"/>
          <p:nvPr/>
        </p:nvSpPr>
        <p:spPr>
          <a:xfrm rot="0">
            <a:off x="11854792" y="5003506"/>
            <a:ext cx="4221162" cy="2120900"/>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untuk me</a:t>
            </a:r>
            <a:r>
              <a:rPr lang="en-US" sz="1999">
                <a:solidFill>
                  <a:srgbClr val="343734"/>
                </a:solidFill>
                <a:latin typeface="Poppins"/>
                <a:ea typeface="Poppins"/>
                <a:cs typeface="Poppins"/>
                <a:sym typeface="Poppins"/>
              </a:rPr>
              <a:t>ngidentifikasi wilayah dengan tingkat fatalitas di atas rata-rata nasional supaya bisa menandakan keterbatasan kapasitas RS/tenaga medis di wilayah tersebut.</a:t>
            </a:r>
          </a:p>
        </p:txBody>
      </p:sp>
      <p:sp>
        <p:nvSpPr>
          <p:cNvPr name="TextBox 27" id="27"/>
          <p:cNvSpPr txBox="true"/>
          <p:nvPr/>
        </p:nvSpPr>
        <p:spPr>
          <a:xfrm rot="0">
            <a:off x="11856640" y="364179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3</a:t>
            </a:r>
          </a:p>
        </p:txBody>
      </p:sp>
      <p:sp>
        <p:nvSpPr>
          <p:cNvPr name="TextBox 28" id="28"/>
          <p:cNvSpPr txBox="true"/>
          <p:nvPr/>
        </p:nvSpPr>
        <p:spPr>
          <a:xfrm rot="0">
            <a:off x="6022872" y="7723321"/>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Ma</a:t>
            </a:r>
            <a:r>
              <a:rPr lang="en-US" b="true" sz="1999">
                <a:solidFill>
                  <a:srgbClr val="343734"/>
                </a:solidFill>
                <a:latin typeface="Montserrat Bold"/>
                <a:ea typeface="Montserrat Bold"/>
                <a:cs typeface="Montserrat Bold"/>
                <a:sym typeface="Montserrat Bold"/>
              </a:rPr>
              <a:t>nfaatkan pola dua gelombang</a:t>
            </a:r>
          </a:p>
        </p:txBody>
      </p:sp>
      <p:sp>
        <p:nvSpPr>
          <p:cNvPr name="TextBox 29" id="29"/>
          <p:cNvSpPr txBox="true"/>
          <p:nvPr/>
        </p:nvSpPr>
        <p:spPr>
          <a:xfrm rot="0">
            <a:off x="6022872" y="8102917"/>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i</a:t>
            </a:r>
            <a:r>
              <a:rPr lang="en-US" sz="1999">
                <a:solidFill>
                  <a:srgbClr val="343734"/>
                </a:solidFill>
                <a:latin typeface="Poppins"/>
                <a:ea typeface="Poppins"/>
                <a:cs typeface="Poppins"/>
                <a:sym typeface="Poppins"/>
              </a:rPr>
              <a:t>ni untuk pemodelan prediktif gelombang berikutnya, termasuk estimasi kebutuhan kapasitas RS berdasarkan pola historis.</a:t>
            </a:r>
          </a:p>
        </p:txBody>
      </p:sp>
      <p:sp>
        <p:nvSpPr>
          <p:cNvPr name="TextBox 30" id="30"/>
          <p:cNvSpPr txBox="true"/>
          <p:nvPr/>
        </p:nvSpPr>
        <p:spPr>
          <a:xfrm rot="0">
            <a:off x="6022872" y="6985476"/>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4</a:t>
            </a:r>
          </a:p>
        </p:txBody>
      </p:sp>
      <p:sp>
        <p:nvSpPr>
          <p:cNvPr name="Freeform 31" id="31"/>
          <p:cNvSpPr/>
          <p:nvPr/>
        </p:nvSpPr>
        <p:spPr>
          <a:xfrm flipH="true" flipV="false" rot="0">
            <a:off x="15561883" y="8602558"/>
            <a:ext cx="1145602" cy="1145602"/>
          </a:xfrm>
          <a:custGeom>
            <a:avLst/>
            <a:gdLst/>
            <a:ahLst/>
            <a:cxnLst/>
            <a:rect r="r" b="b" t="t" l="l"/>
            <a:pathLst>
              <a:path h="1145602" w="1145602">
                <a:moveTo>
                  <a:pt x="1145602" y="0"/>
                </a:moveTo>
                <a:lnTo>
                  <a:pt x="0" y="0"/>
                </a:lnTo>
                <a:lnTo>
                  <a:pt x="0" y="1145601"/>
                </a:lnTo>
                <a:lnTo>
                  <a:pt x="1145602" y="1145601"/>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877592" y="84922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7795185"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F</a:t>
            </a:r>
            <a:r>
              <a:rPr lang="en-US" b="true" sz="8799">
                <a:solidFill>
                  <a:srgbClr val="343734"/>
                </a:solidFill>
                <a:latin typeface="Montserrat Bold"/>
                <a:ea typeface="Montserrat Bold"/>
                <a:cs typeface="Montserrat Bold"/>
                <a:sym typeface="Montserrat Bold"/>
              </a:rPr>
              <a:t>inal Conclusion</a:t>
            </a:r>
          </a:p>
        </p:txBody>
      </p:sp>
      <p:sp>
        <p:nvSpPr>
          <p:cNvPr name="TextBox 4" id="4"/>
          <p:cNvSpPr txBox="true"/>
          <p:nvPr/>
        </p:nvSpPr>
        <p:spPr>
          <a:xfrm rot="0">
            <a:off x="1028700" y="4230978"/>
            <a:ext cx="7140660" cy="2835275"/>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Da</a:t>
            </a:r>
            <a:r>
              <a:rPr lang="en-US" sz="2000">
                <a:solidFill>
                  <a:srgbClr val="343734"/>
                </a:solidFill>
                <a:latin typeface="Poppins"/>
                <a:ea typeface="Poppins"/>
                <a:cs typeface="Poppins"/>
                <a:sym typeface="Poppins"/>
              </a:rPr>
              <a:t>shboard ini berhasil mengubah data mentah kasus COVID-19 menjadi narasi visual yang jelas: dari sebaran geografis, pola gelombang, hingga indikator keparahan. Insight utama konsentrasi kasus di Pulau Jawa dan penurunan tingkat fatalitas pada gelombang kedua meski volume kasus lebih tinggi, dua temuan yang relevan untuk perencanaan kebijakan kesehatan berbasis data. </a:t>
            </a:r>
          </a:p>
        </p:txBody>
      </p:sp>
      <p:sp>
        <p:nvSpPr>
          <p:cNvPr name="Freeform 5" id="5"/>
          <p:cNvSpPr/>
          <p:nvPr/>
        </p:nvSpPr>
        <p:spPr>
          <a:xfrm flipH="false" flipV="false" rot="0">
            <a:off x="9508113" y="2109744"/>
            <a:ext cx="7019419" cy="5052772"/>
          </a:xfrm>
          <a:custGeom>
            <a:avLst/>
            <a:gdLst/>
            <a:ahLst/>
            <a:cxnLst/>
            <a:rect r="r" b="b" t="t" l="l"/>
            <a:pathLst>
              <a:path h="5052772" w="7019419">
                <a:moveTo>
                  <a:pt x="0" y="0"/>
                </a:moveTo>
                <a:lnTo>
                  <a:pt x="7019419" y="0"/>
                </a:lnTo>
                <a:lnTo>
                  <a:pt x="7019419" y="5052771"/>
                </a:lnTo>
                <a:lnTo>
                  <a:pt x="0" y="5052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3059161" y="-353316"/>
            <a:ext cx="5954157" cy="11239916"/>
            <a:chOff x="0" y="0"/>
            <a:chExt cx="1568173" cy="2960307"/>
          </a:xfrm>
        </p:grpSpPr>
        <p:sp>
          <p:nvSpPr>
            <p:cNvPr name="Freeform 3" id="3"/>
            <p:cNvSpPr/>
            <p:nvPr/>
          </p:nvSpPr>
          <p:spPr>
            <a:xfrm flipH="false" flipV="false" rot="0">
              <a:off x="0" y="0"/>
              <a:ext cx="1568173" cy="2960307"/>
            </a:xfrm>
            <a:custGeom>
              <a:avLst/>
              <a:gdLst/>
              <a:ahLst/>
              <a:cxnLst/>
              <a:rect r="r" b="b" t="t" l="l"/>
              <a:pathLst>
                <a:path h="2960307" w="1568173">
                  <a:moveTo>
                    <a:pt x="0" y="0"/>
                  </a:moveTo>
                  <a:lnTo>
                    <a:pt x="1568173" y="0"/>
                  </a:lnTo>
                  <a:lnTo>
                    <a:pt x="1568173" y="2960307"/>
                  </a:lnTo>
                  <a:lnTo>
                    <a:pt x="0" y="2960307"/>
                  </a:lnTo>
                  <a:close/>
                </a:path>
              </a:pathLst>
            </a:custGeom>
            <a:solidFill>
              <a:srgbClr val="EFF1E8"/>
            </a:solidFill>
          </p:spPr>
        </p:sp>
        <p:sp>
          <p:nvSpPr>
            <p:cNvPr name="TextBox 4" id="4"/>
            <p:cNvSpPr txBox="true"/>
            <p:nvPr/>
          </p:nvSpPr>
          <p:spPr>
            <a:xfrm>
              <a:off x="0" y="-57150"/>
              <a:ext cx="1568173" cy="3017457"/>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9637891" y="2754659"/>
            <a:ext cx="7621409" cy="4901354"/>
          </a:xfrm>
          <a:custGeom>
            <a:avLst/>
            <a:gdLst/>
            <a:ahLst/>
            <a:cxnLst/>
            <a:rect r="r" b="b" t="t" l="l"/>
            <a:pathLst>
              <a:path h="4901354" w="7621409">
                <a:moveTo>
                  <a:pt x="0" y="0"/>
                </a:moveTo>
                <a:lnTo>
                  <a:pt x="7621409" y="0"/>
                </a:lnTo>
                <a:lnTo>
                  <a:pt x="7621409" y="4901354"/>
                </a:lnTo>
                <a:lnTo>
                  <a:pt x="0" y="49013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00911" y="2516722"/>
            <a:ext cx="10020426" cy="5388469"/>
          </a:xfrm>
          <a:prstGeom prst="rect">
            <a:avLst/>
          </a:prstGeom>
        </p:spPr>
        <p:txBody>
          <a:bodyPr anchor="t" rtlCol="false" tIns="0" lIns="0" bIns="0" rIns="0">
            <a:spAutoFit/>
          </a:bodyPr>
          <a:lstStyle/>
          <a:p>
            <a:pPr algn="l">
              <a:lnSpc>
                <a:spcPts val="20857"/>
              </a:lnSpc>
            </a:pPr>
            <a:r>
              <a:rPr lang="en-US" sz="19864" b="true">
                <a:solidFill>
                  <a:srgbClr val="EFF1E8"/>
                </a:solidFill>
                <a:latin typeface="Montserrat Bold"/>
                <a:ea typeface="Montserrat Bold"/>
                <a:cs typeface="Montserrat Bold"/>
                <a:sym typeface="Montserrat Bold"/>
              </a:rPr>
              <a:t>Th</a:t>
            </a:r>
            <a:r>
              <a:rPr lang="en-US" b="true" sz="19864">
                <a:solidFill>
                  <a:srgbClr val="EFF1E8"/>
                </a:solidFill>
                <a:latin typeface="Montserrat Bold"/>
                <a:ea typeface="Montserrat Bold"/>
                <a:cs typeface="Montserrat Bold"/>
                <a:sym typeface="Montserrat Bold"/>
              </a:rPr>
              <a:t>ank You</a:t>
            </a:r>
          </a:p>
        </p:txBody>
      </p:sp>
      <p:sp>
        <p:nvSpPr>
          <p:cNvPr name="Freeform 7" id="7"/>
          <p:cNvSpPr/>
          <p:nvPr/>
        </p:nvSpPr>
        <p:spPr>
          <a:xfrm flipH="false" flipV="false" rot="0">
            <a:off x="1028700" y="8622875"/>
            <a:ext cx="635425" cy="635425"/>
          </a:xfrm>
          <a:custGeom>
            <a:avLst/>
            <a:gdLst/>
            <a:ahLst/>
            <a:cxnLst/>
            <a:rect r="r" b="b" t="t" l="l"/>
            <a:pathLst>
              <a:path h="635425" w="635425">
                <a:moveTo>
                  <a:pt x="0" y="0"/>
                </a:moveTo>
                <a:lnTo>
                  <a:pt x="635425" y="0"/>
                </a:lnTo>
                <a:lnTo>
                  <a:pt x="635425" y="635425"/>
                </a:lnTo>
                <a:lnTo>
                  <a:pt x="0" y="635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00911" y="7697204"/>
            <a:ext cx="6595674" cy="358825"/>
          </a:xfrm>
          <a:prstGeom prst="rect">
            <a:avLst/>
          </a:prstGeom>
        </p:spPr>
        <p:txBody>
          <a:bodyPr anchor="t" rtlCol="false" tIns="0" lIns="0" bIns="0" rIns="0">
            <a:spAutoFit/>
          </a:bodyPr>
          <a:lstStyle/>
          <a:p>
            <a:pPr algn="l">
              <a:lnSpc>
                <a:spcPts val="2799"/>
              </a:lnSpc>
              <a:spcBef>
                <a:spcPct val="0"/>
              </a:spcBef>
            </a:pPr>
            <a:r>
              <a:rPr lang="en-US" sz="1999" spc="345">
                <a:solidFill>
                  <a:srgbClr val="EFF1E8"/>
                </a:solidFill>
                <a:latin typeface="Poppins"/>
                <a:ea typeface="Poppins"/>
                <a:cs typeface="Poppins"/>
                <a:sym typeface="Poppi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DAHUHOEXlgU</dc:identifier>
  <dcterms:modified xsi:type="dcterms:W3CDTF">2011-08-01T06:04:30Z</dcterms:modified>
  <cp:revision>1</cp:revision>
  <dc:title>Salinan dari Blue and Grey Modern Data Analyst Presentation</dc:title>
</cp:coreProperties>
</file>